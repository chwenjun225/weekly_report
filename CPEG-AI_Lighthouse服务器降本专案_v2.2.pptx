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4" r:id="rId1"/>
  </p:sldMasterIdLst>
  <p:notesMasterIdLst>
    <p:notesMasterId r:id="rId9"/>
  </p:notesMasterIdLst>
  <p:handoutMasterIdLst>
    <p:handoutMasterId r:id="rId10"/>
  </p:handoutMasterIdLst>
  <p:sldIdLst>
    <p:sldId id="296" r:id="rId2"/>
    <p:sldId id="294" r:id="rId3"/>
    <p:sldId id="284" r:id="rId4"/>
    <p:sldId id="283" r:id="rId5"/>
    <p:sldId id="293" r:id="rId6"/>
    <p:sldId id="297" r:id="rId7"/>
    <p:sldId id="295" r:id="rId8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2F77"/>
    <a:srgbClr val="0000CC"/>
    <a:srgbClr val="DEEBF7"/>
    <a:srgbClr val="FFC000"/>
    <a:srgbClr val="002060"/>
    <a:srgbClr val="FFF2CC"/>
    <a:srgbClr val="3B3BFF"/>
    <a:srgbClr val="0070C0"/>
    <a:srgbClr val="007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65" autoAdjust="0"/>
    <p:restoredTop sz="94206" autoAdjust="0"/>
  </p:normalViewPr>
  <p:slideViewPr>
    <p:cSldViewPr snapToGrid="0">
      <p:cViewPr varScale="1">
        <p:scale>
          <a:sx n="111" d="100"/>
          <a:sy n="111" d="100"/>
        </p:scale>
        <p:origin x="34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38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 for list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87082A3D-08FC-4EF5-9145-7DCFDBB543BD}"/>
              </a:ext>
            </a:extLst>
          </p:cNvPr>
          <p:cNvSpPr/>
          <p:nvPr userDrawn="1"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F0943-FF36-4C0E-9490-A58E4773E013}"/>
              </a:ext>
            </a:extLst>
          </p:cNvPr>
          <p:cNvSpPr txBox="1"/>
          <p:nvPr userDrawn="1"/>
        </p:nvSpPr>
        <p:spPr>
          <a:xfrm>
            <a:off x="3772452" y="2557117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1180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178"/>
            <a:ext cx="457200" cy="5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C386B-C8A9-D9E9-B218-C784A9B9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" t="34" r="157" b="1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4">
            <a:extLst>
              <a:ext uri="{FF2B5EF4-FFF2-40B4-BE49-F238E27FC236}">
                <a16:creationId xmlns:a16="http://schemas.microsoft.com/office/drawing/2014/main" id="{D2A31A4F-26ED-4D44-EA63-12EE75E5E6CF}"/>
              </a:ext>
            </a:extLst>
          </p:cNvPr>
          <p:cNvSpPr txBox="1"/>
          <p:nvPr/>
        </p:nvSpPr>
        <p:spPr>
          <a:xfrm>
            <a:off x="976742" y="2324924"/>
            <a:ext cx="664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Lighthouse </a:t>
            </a:r>
            <a:r>
              <a:rPr lang="zh-CN" altLang="en-US" sz="40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服务器降本专案</a:t>
            </a:r>
            <a:endParaRPr lang="en-US" altLang="zh-CN" sz="400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BCB59C36-1483-4A18-AE56-FD63F9C8EF9F}"/>
              </a:ext>
            </a:extLst>
          </p:cNvPr>
          <p:cNvSpPr txBox="1"/>
          <p:nvPr/>
        </p:nvSpPr>
        <p:spPr>
          <a:xfrm>
            <a:off x="976742" y="3215856"/>
            <a:ext cx="4746169" cy="115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单位：</a:t>
            </a:r>
            <a:r>
              <a:rPr 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endParaRPr lang="en-US" altLang="zh-CN" sz="160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hangingPunct="0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报告人：陈文俊</a:t>
            </a:r>
            <a:endParaRPr lang="en-US" altLang="zh-CN" sz="160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2026</a:t>
            </a:r>
            <a:r>
              <a:rPr lang="zh-CN" alt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年</a:t>
            </a:r>
            <a:r>
              <a:rPr lang="en-US" altLang="zh-CN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03</a:t>
            </a:r>
            <a:r>
              <a:rPr lang="zh-CN" alt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月</a:t>
            </a:r>
            <a:r>
              <a:rPr lang="en-US" altLang="zh-CN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02</a:t>
            </a:r>
            <a:r>
              <a:rPr lang="zh-CN" altLang="en-US" sz="16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等线" panose="02010600030101010101" charset="-122"/>
              </a:rPr>
              <a:t>日</a:t>
            </a:r>
            <a:endParaRPr lang="en-US" altLang="zh-TW" sz="160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96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E182-8C18-2492-5BDD-D8E24DB2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D1FF36A4-3C74-01B0-FEF1-1AF9A80B6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779721"/>
              </p:ext>
            </p:extLst>
          </p:nvPr>
        </p:nvGraphicFramePr>
        <p:xfrm>
          <a:off x="0" y="362403"/>
          <a:ext cx="7178610" cy="883920"/>
        </p:xfrm>
        <a:graphic>
          <a:graphicData uri="http://schemas.openxmlformats.org/drawingml/2006/table">
            <a:tbl>
              <a:tblPr/>
              <a:tblGrid>
                <a:gridCol w="75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78">
                  <a:extLst>
                    <a:ext uri="{9D8B030D-6E8A-4147-A177-3AD203B41FA5}">
                      <a16:colId xmlns:a16="http://schemas.microsoft.com/office/drawing/2014/main" val="954108134"/>
                    </a:ext>
                  </a:extLst>
                </a:gridCol>
                <a:gridCol w="814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4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3748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PLAN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PHASE 1 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25/12/18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25/12/20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25/12/22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25/12/23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26/01/08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26/01/13</a:t>
                      </a:r>
                      <a:endParaRPr lang="en-US" sz="1000" b="0" strike="sng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26/02/20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26/03/15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26/03/22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7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Project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Start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Requirement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Analysis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 Form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Submit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Preparation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Operating System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Setup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Model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Transfers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Configure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 System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Testing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Deploy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14">
            <a:extLst>
              <a:ext uri="{FF2B5EF4-FFF2-40B4-BE49-F238E27FC236}">
                <a16:creationId xmlns:a16="http://schemas.microsoft.com/office/drawing/2014/main" id="{ED0E5571-B275-B324-5C2D-AE8709B218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709834"/>
              </p:ext>
            </p:extLst>
          </p:nvPr>
        </p:nvGraphicFramePr>
        <p:xfrm>
          <a:off x="0" y="1266676"/>
          <a:ext cx="12183851" cy="4445988"/>
        </p:xfrm>
        <a:graphic>
          <a:graphicData uri="http://schemas.openxmlformats.org/drawingml/2006/table">
            <a:tbl>
              <a:tblPr/>
              <a:tblGrid>
                <a:gridCol w="40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7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3416075485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4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Execution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Issues Summary (Green: Done/</a:t>
                      </a:r>
                      <a:r>
                        <a:rPr lang="en-US" altLang="zh-CN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Closed</a:t>
                      </a:r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; Yellow: Ongoing; Blue: Feedback/Improve; Other color: Open)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Owner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1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Requirement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Analysis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Implement carbon emission management system, aiming for sustainable development goals.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1. Usecase 1: Target Carbon Limits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2. Usecase 2: Cooling Management Platform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3. Usecase 3: Carbon inventory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4. Usecase 4&amp;5: Smart Solar O&amp;M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陈文俊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25/12/20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IT Form Submit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Request IT assistance for computer relocation.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 Done-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陈文俊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-25/12/22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Request IT assistance for downloading models larger </a:t>
                      </a: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than 128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GB. 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陈文俊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-25/12/22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陈文俊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25/12/22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3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Server Preparation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Discuss with AI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工程师 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&amp; 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find a server suitable for the application.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Submit an IT request for operating system </a:t>
                      </a:r>
                      <a:r>
                        <a:rPr lang="en-US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Proxmox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&amp; Rocky-Linux installation for server. 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陈文俊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 </a:t>
                      </a:r>
                      <a:r>
                        <a:rPr 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</a:t>
                      </a:r>
                      <a:r>
                        <a:rPr lang="zh-CN" altLang="en-US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俊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英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-25/12/23</a:t>
                      </a:r>
                      <a:endParaRPr lang="en-US" sz="1000" b="0" strike="noStrike" spc="-1" dirty="0"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陈文俊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25/12/23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4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Operating System</a:t>
                      </a: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Server Setup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AutoNum type="arabicPeriod"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Setup Server Operating System 1: </a:t>
                      </a:r>
                      <a:r>
                        <a:rPr lang="en-US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Proxmox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陈文俊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 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功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俊英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-26/01/08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AutoNum type="arabicPeriod"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Setup Server Operating System 2: Rocky Linux 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陈文俊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 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功</a:t>
                      </a:r>
                      <a:r>
                        <a:rPr 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俊英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-26/01/08</a:t>
                      </a:r>
                      <a:endParaRPr lang="en-US" sz="1000" b="0" strike="noStrike" spc="-1" dirty="0"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陈文俊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26/01/08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5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Model Transfers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Transfers large language model externally, then transfer to Asus </a:t>
                      </a:r>
                      <a:r>
                        <a:rPr lang="en-US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A5000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server 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鄧潘英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000" b="0" strike="noStrike" spc="-1" dirty="0" err="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TARG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-26/01/12</a:t>
                      </a:r>
                      <a:endParaRPr lang="en-US" sz="1000" b="0" strike="noStrike" spc="-1" dirty="0"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鄧潘英</a:t>
                      </a:r>
                      <a:endParaRPr lang="en-US" altLang="zh-CN" sz="1000" b="0" i="0"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26/01/13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3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6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Configure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5 System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</a:pPr>
                      <a:r>
                        <a:rPr lang="en-US" sz="1000" b="0" i="1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Install use-case 1&amp;3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Config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(1) </a:t>
                      </a:r>
                      <a:r>
                        <a:rPr lang="en-US" sz="1000" b="0" dirty="0" err="1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dist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(2) </a:t>
                      </a:r>
                      <a:r>
                        <a:rPr lang="en-US" sz="1000" b="0" dirty="0" err="1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deploy.sh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(3) </a:t>
                      </a:r>
                      <a:r>
                        <a:rPr lang="en-US" sz="1000" b="0" dirty="0" err="1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(4) </a:t>
                      </a:r>
                      <a:r>
                        <a:rPr lang="en-US" sz="1000" b="0" dirty="0" err="1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nginx.conf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files to the Asus </a:t>
                      </a:r>
                      <a:r>
                        <a:rPr lang="en-US" sz="1000" b="0" dirty="0" err="1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A5000</a:t>
                      </a:r>
                      <a:r>
                        <a:rPr 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server, modify the configurations, update the backend APIs, and proceed with the deployment.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Done-AI: 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-26/01/29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buAutoNum type="arabicPeriod"/>
                      </a:pPr>
                      <a:r>
                        <a:rPr lang="en-US" altLang="zh-CN" sz="1000" b="0" i="1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Install use-case 5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: Config (1) </a:t>
                      </a:r>
                      <a:r>
                        <a:rPr lang="en-US" altLang="zh-CN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cp.env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(2) </a:t>
                      </a:r>
                      <a:r>
                        <a:rPr lang="en-US" altLang="zh-CN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docker_srm.sh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(3) </a:t>
                      </a:r>
                      <a:r>
                        <a:rPr lang="en-US" altLang="zh-CN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xxl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-job files on the Asus </a:t>
                      </a:r>
                      <a:r>
                        <a:rPr lang="en-US" altLang="zh-CN" sz="1000" b="0" strike="noStrike" spc="-1" dirty="0" err="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A5000</a:t>
                      </a:r>
                      <a:r>
                        <a:rPr lang="en-US" altLang="zh-CN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server, (4) update backend 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APIs.-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</a:t>
                      </a:r>
                      <a:r>
                        <a:rPr lang="zh-CN" altLang="en-US" sz="1000" b="0" strike="noStrike" spc="-1" dirty="0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lang="zh-CN" altLang="en-US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俊英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-26/02/06</a:t>
                      </a:r>
                      <a:endParaRPr lang="en-US" altLang="zh-CN" sz="1000" b="0" i="0" strike="noStrike" spc="-1" dirty="0">
                        <a:solidFill>
                          <a:srgbClr val="000000"/>
                        </a:solidFill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zh-CN" sz="1000" b="0" i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Install use-case 2&amp;4: 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proceed to install use-cases 2 and 4 after finish use-case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5.- 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strike="noStrike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-26/02/06</a:t>
                      </a:r>
                      <a:endParaRPr lang="en-US" altLang="zh-CN" sz="1000" b="0" i="0" strike="noStrike" spc="-1">
                        <a:solidFill>
                          <a:srgbClr val="000000"/>
                        </a:solidFill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阮功俊英</a:t>
                      </a:r>
                      <a:endParaRPr lang="en-US" altLang="zh-CN" sz="1000" b="0" i="0" dirty="0"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26/02/20</a:t>
                      </a:r>
                      <a:endParaRPr lang="en-US" sz="1000" b="0" strike="sngStrike" spc="-1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7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Testing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Testing: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The LLM Assistant features usecase 1&amp;3 is currently not working, and is under improvement.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- 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Closed-</a:t>
                      </a:r>
                      <a:r>
                        <a:rPr lang="zh-CN" altLang="en-US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-26/02/19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陈文俊</a:t>
                      </a:r>
                      <a:endParaRPr lang="en-US" altLang="zh-CN" sz="1000" b="0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26/03/15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8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Service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Deploy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Service Deployment: Deploy the model as an internal service and expose APIs for access </a:t>
                      </a: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- 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Closed-</a:t>
                      </a:r>
                      <a:r>
                        <a:rPr lang="zh-CN" altLang="en-US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-26/02/21</a:t>
                      </a:r>
                      <a:endParaRPr lang="en-US" altLang="zh-CN" sz="1000" b="0" strike="noStrike" spc="-1">
                        <a:solidFill>
                          <a:schemeClr val="tx1"/>
                        </a:solidFill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Access Control: Restrict access to internal network with proper authentication - 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Closed-</a:t>
                      </a:r>
                      <a:r>
                        <a:rPr lang="zh-CN" altLang="en-US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strike="noStrike" kern="1200" spc="-1">
                          <a:solidFill>
                            <a:srgbClr val="000000"/>
                          </a:solidFill>
                          <a:highlight>
                            <a:srgbClr val="92D050"/>
                          </a:highlight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-26/02/21</a:t>
                      </a:r>
                      <a:endParaRPr lang="en-US" altLang="zh-CN" sz="1000" b="0" strike="noStrike" spc="-1" dirty="0">
                        <a:solidFill>
                          <a:srgbClr val="000000"/>
                        </a:solidFill>
                        <a:highlight>
                          <a:srgbClr val="92D050"/>
                        </a:highlight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dirty="0">
                          <a:latin typeface="+mj-lt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阮功俊英</a:t>
                      </a:r>
                      <a:endParaRPr lang="en-US" altLang="zh-CN" sz="1000" b="0" i="0" dirty="0">
                        <a:latin typeface="+mj-lt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26/03/22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Closed</a:t>
                      </a:r>
                      <a:endParaRPr lang="en-US" sz="1000" b="0" strike="noStrike" spc="-1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01C525AD-1215-AB0F-B75A-09A0B4F49F3E}"/>
              </a:ext>
            </a:extLst>
          </p:cNvPr>
          <p:cNvSpPr/>
          <p:nvPr/>
        </p:nvSpPr>
        <p:spPr>
          <a:xfrm>
            <a:off x="10343072" y="0"/>
            <a:ext cx="1848928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OT: CBD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陈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文俊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FBB85-BC4C-A866-83A5-2A176FECAAB3}"/>
              </a:ext>
            </a:extLst>
          </p:cNvPr>
          <p:cNvSpPr txBox="1"/>
          <p:nvPr/>
        </p:nvSpPr>
        <p:spPr>
          <a:xfrm flipH="1">
            <a:off x="-1" y="28161"/>
            <a:ext cx="10463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算法团队报告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-Project 3: Lighthouse 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服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务器降本专案（租用改为内部部署）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</a:t>
            </a: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 CLOSED: Installed on Server_10.72.65.250 (2x GPU-A5000)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0ED1A-5488-0DDF-74FC-6882B332725F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4ED213-BF1A-1DFB-DE72-CAE6D83BBDBA}"/>
              </a:ext>
            </a:extLst>
          </p:cNvPr>
          <p:cNvGrpSpPr/>
          <p:nvPr/>
        </p:nvGrpSpPr>
        <p:grpSpPr>
          <a:xfrm>
            <a:off x="7772399" y="310750"/>
            <a:ext cx="1949570" cy="926312"/>
            <a:chOff x="7709219" y="319964"/>
            <a:chExt cx="1976901" cy="1001686"/>
          </a:xfrm>
        </p:grpSpPr>
        <p:pic>
          <p:nvPicPr>
            <p:cNvPr id="9" name="圖片 4">
              <a:extLst>
                <a:ext uri="{FF2B5EF4-FFF2-40B4-BE49-F238E27FC236}">
                  <a16:creationId xmlns:a16="http://schemas.microsoft.com/office/drawing/2014/main" id="{AA054137-1DA3-85EB-D254-0FA2DB031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9219" y="319964"/>
              <a:ext cx="943076" cy="439420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pic>
          <p:nvPicPr>
            <p:cNvPr id="10" name="圖片 5">
              <a:extLst>
                <a:ext uri="{FF2B5EF4-FFF2-40B4-BE49-F238E27FC236}">
                  <a16:creationId xmlns:a16="http://schemas.microsoft.com/office/drawing/2014/main" id="{42F1E190-4C0A-2395-4D7A-FFC836CA9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3044" y="332835"/>
              <a:ext cx="943076" cy="4394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</p:pic>
        <p:pic>
          <p:nvPicPr>
            <p:cNvPr id="12" name="圖片 3">
              <a:extLst>
                <a:ext uri="{FF2B5EF4-FFF2-40B4-BE49-F238E27FC236}">
                  <a16:creationId xmlns:a16="http://schemas.microsoft.com/office/drawing/2014/main" id="{2D2FAC6D-F6DF-8B6D-2D7E-FC5E5F070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09219" y="816771"/>
              <a:ext cx="943076" cy="492103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pic>
          <p:nvPicPr>
            <p:cNvPr id="15" name="圖片 4">
              <a:extLst>
                <a:ext uri="{FF2B5EF4-FFF2-40B4-BE49-F238E27FC236}">
                  <a16:creationId xmlns:a16="http://schemas.microsoft.com/office/drawing/2014/main" id="{45F678A4-3A6D-BE1F-D5C6-D0DFD8E89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43044" y="829547"/>
              <a:ext cx="943076" cy="492103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36B4353-0C8D-A5AB-6257-28B616BF1578}"/>
              </a:ext>
            </a:extLst>
          </p:cNvPr>
          <p:cNvSpPr txBox="1"/>
          <p:nvPr/>
        </p:nvSpPr>
        <p:spPr>
          <a:xfrm>
            <a:off x="0" y="5691590"/>
            <a:ext cx="7772399" cy="889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0000CC"/>
                </a:solidFill>
              </a:rPr>
              <a:t>NOTE: Phase 1 of the project was completed 30 days ahead of schedule. Technically, the system was installed on server_10.72.65.250. However, this server is being reclaimed by TARG-Pengjun for other purposes, so the project will be moved to Phase 2 to be installed on server_10.72.92.47 (DT department).</a:t>
            </a:r>
          </a:p>
        </p:txBody>
      </p:sp>
    </p:spTree>
    <p:extLst>
      <p:ext uri="{BB962C8B-B14F-4D97-AF65-F5344CB8AC3E}">
        <p14:creationId xmlns:p14="http://schemas.microsoft.com/office/powerpoint/2010/main" val="400212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1D9F-CE45-66C6-83BB-444839E1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A4D2BDEF-AAF4-A49B-2989-5B9AE6D00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674010"/>
              </p:ext>
            </p:extLst>
          </p:nvPr>
        </p:nvGraphicFramePr>
        <p:xfrm>
          <a:off x="0" y="305160"/>
          <a:ext cx="7263442" cy="883920"/>
        </p:xfrm>
        <a:graphic>
          <a:graphicData uri="http://schemas.openxmlformats.org/drawingml/2006/table">
            <a:tbl>
              <a:tblPr/>
              <a:tblGrid>
                <a:gridCol w="89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3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1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94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6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3748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PLAN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PHASE 2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26/02/26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26/02/27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26/03/10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26/03/15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26/03/20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26/03/31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7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 Form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Submit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Preparation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Operating System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Setup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Model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Transfers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Configure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 System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Deploy</a:t>
                      </a:r>
                      <a:endParaRPr lang="en-US" sz="1000" b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Ongoing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Open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Open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Open</a:t>
                      </a:r>
                      <a:endParaRPr lang="en-US" sz="1000" b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668CE426-D94F-588F-8915-D8835573A962}"/>
              </a:ext>
            </a:extLst>
          </p:cNvPr>
          <p:cNvSpPr/>
          <p:nvPr/>
        </p:nvSpPr>
        <p:spPr>
          <a:xfrm>
            <a:off x="10448926" y="0"/>
            <a:ext cx="174307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</a:t>
            </a:r>
            <a:r>
              <a: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CBD; AT</a:t>
            </a:r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AI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陈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文俊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AD698-9B70-A1C3-FE3D-B58CDE090C97}"/>
              </a:ext>
            </a:extLst>
          </p:cNvPr>
          <p:cNvSpPr txBox="1"/>
          <p:nvPr/>
        </p:nvSpPr>
        <p:spPr>
          <a:xfrm flipH="1">
            <a:off x="-8149" y="0"/>
            <a:ext cx="10533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算法团队报告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-Project 3: Lighthouse 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服务器降本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租用改为内部部署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2 ONGOING: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Install on </a:t>
            </a: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DT's Server_10.72.92.47 (2x GPU-PRO6000)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ED018-4770-6816-5DAA-31DF76A5906B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F91A283F-4D78-D9C6-4E4E-A0DAC42A91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50161"/>
              </p:ext>
            </p:extLst>
          </p:nvPr>
        </p:nvGraphicFramePr>
        <p:xfrm>
          <a:off x="0" y="1303504"/>
          <a:ext cx="12192000" cy="4082266"/>
        </p:xfrm>
        <a:graphic>
          <a:graphicData uri="http://schemas.openxmlformats.org/drawingml/2006/table">
            <a:tbl>
              <a:tblPr/>
              <a:tblGrid>
                <a:gridCol w="404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267">
                  <a:extLst>
                    <a:ext uri="{9D8B030D-6E8A-4147-A177-3AD203B41FA5}">
                      <a16:colId xmlns:a16="http://schemas.microsoft.com/office/drawing/2014/main" val="3416075485"/>
                    </a:ext>
                  </a:extLst>
                </a:gridCol>
                <a:gridCol w="722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6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Execution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Issues Summary (Green: Done/</a:t>
                      </a:r>
                      <a:r>
                        <a:rPr lang="en-US" altLang="zh-CN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Closed</a:t>
                      </a:r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; Yellow: Ongoing; Blue: Feedback/Improve; Other color: Open)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Owner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3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 Form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Submit</a:t>
                      </a:r>
                      <a:endParaRPr lang="en-US" sz="1000" b="0" i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 Application to install ProxMox+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RockyLinux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operating system for Server_10.72.92.47 -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-26/02/25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highlight>
                          <a:srgbClr val="92D050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 Application for bandwidth request to transfer 128GB of large data from (10.72.65.250-&gt;10.72.92.47)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-26/02/24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 Application to enable network access for Server_10.72.92.47 -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-26/02/27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Preparation</a:t>
                      </a:r>
                      <a:endParaRPr lang="en-US" sz="1000" b="0" i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Work with the DT department engineers to back up data and programs for Server_10.72.92.47.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-26/02/24</a:t>
                      </a:r>
                      <a:endParaRPr lang="en-US" sz="1000" b="0" i="0" strike="noStrike" spc="-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26/02/26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Close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Operating System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Setup</a:t>
                      </a:r>
                      <a:endParaRPr lang="en-US" sz="1000" b="0" i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 Setup </a:t>
                      </a:r>
                      <a:r>
                        <a:rPr lang="en-US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Operating System 1: </a:t>
                      </a:r>
                      <a:r>
                        <a:rPr lang="en-US" sz="1000" b="0" i="0" strike="noStrike" spc="-1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Proxmox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-26/02/27</a:t>
                      </a:r>
                      <a:endParaRPr lang="en-US" sz="1000" b="0" i="0" strike="noStrike" spc="-1" dirty="0">
                        <a:solidFill>
                          <a:schemeClr val="tx1"/>
                        </a:solidFill>
                        <a:highlight>
                          <a:srgbClr val="92D050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 Setup </a:t>
                      </a:r>
                      <a:r>
                        <a:rPr lang="en-US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Operating System 2: Rocky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Linux -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Done-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-26/02/27</a:t>
                      </a:r>
                      <a:endParaRPr lang="en-US" sz="1000" b="0" i="0" strike="noStrike" spc="-1" dirty="0">
                        <a:solidFill>
                          <a:schemeClr val="tx1"/>
                        </a:solidFill>
                        <a:highlight>
                          <a:srgbClr val="92D050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i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26/02/27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Close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Model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Transfers</a:t>
                      </a:r>
                      <a:endParaRPr lang="en-US" sz="1000" b="0" i="0" strike="noStrike" spc="-1" dirty="0">
                        <a:solidFill>
                          <a:srgbClr val="00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 Move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all the AI models from Server_10.72.65.250 (AI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部门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server) to Server_10.72.92.47 (DT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部门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Server) -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Ongoing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 Application for proxy for real-time data sent from Longhua to Server_10.72.92 .47 -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Ongoing-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altLang="zh-CN" sz="1000" b="0" i="0" strike="noStrike" spc="-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潘洛興</a:t>
                      </a:r>
                      <a:endParaRPr lang="en-US" altLang="zh-CN" sz="1000" b="0" i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26/03/10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Ongoing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61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Configure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 System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1. Install 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use-case 1&amp;3: 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Config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(1) </a:t>
                      </a:r>
                      <a:r>
                        <a:rPr lang="en-US" sz="1000" b="0" i="0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dist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(2) </a:t>
                      </a:r>
                      <a:r>
                        <a:rPr lang="en-US" sz="1000" b="0" i="0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deploy.sh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(3) </a:t>
                      </a:r>
                      <a:r>
                        <a:rPr lang="en-US" sz="1000" b="0" i="0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(4) </a:t>
                      </a:r>
                      <a:r>
                        <a:rPr lang="en-US" sz="1000" b="0" i="0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nginx.conf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files 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Server_10.72.92.47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modify 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the config files, 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update the backend APIs, and proceed with the 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deployment.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2. Install use-case 2&amp;4: proceed to install use-cases 2 and 4 after finish use-case 5. - 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3. Install 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use-case 5: Config (1) </a:t>
                      </a:r>
                      <a:r>
                        <a:rPr lang="en-US" altLang="zh-CN" sz="1000" b="0" i="0" strike="noStrike" spc="-1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cp.env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(2) </a:t>
                      </a:r>
                      <a:r>
                        <a:rPr lang="en-US" altLang="zh-CN" sz="1000" b="0" i="0" strike="noStrike" spc="-1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docker_srm.sh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(3) </a:t>
                      </a:r>
                      <a:r>
                        <a:rPr lang="en-US" altLang="zh-CN" sz="1000" b="0" i="0" strike="noStrike" spc="-1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xxl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-job file on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Server_10.72.92.47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(4) update backend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APIs. - 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sz="1000" b="0" i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鄧潘英</a:t>
                      </a:r>
                      <a:endParaRPr lang="en-US" altLang="zh-CN" sz="10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26/03/15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Open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</a:t>
                      </a:r>
                      <a:endParaRPr lang="en-US" sz="1000" b="0" i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 all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features: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 the LLM assistant functions, &amp; the real-time data collection and display functions for 5 use-cases.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altLang="zh-CN" sz="1000" b="0" i="0" strike="noStrike" kern="1200" spc="-1">
                        <a:solidFill>
                          <a:schemeClr val="tx1"/>
                        </a:solidFill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潘洛興</a:t>
                      </a:r>
                      <a:endParaRPr lang="en-US" altLang="zh-CN" sz="1000" b="0" i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26/03/20</a:t>
                      </a:r>
                      <a:endParaRPr lang="en-US" sz="1000" b="0" i="0" strike="noStrike" spc="-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Open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Deploy</a:t>
                      </a:r>
                      <a:endParaRPr lang="en-US" sz="1000" b="0" i="0" strike="noStrike" spc="-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 Service </a:t>
                      </a:r>
                      <a:r>
                        <a:rPr lang="en-US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Deployment: Deploy the model as an internal service and expose APIs for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access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altLang="zh-CN" sz="1000" b="0" i="0" strike="noStrike" spc="-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 Access </a:t>
                      </a:r>
                      <a:r>
                        <a:rPr lang="en-US" sz="1000" b="0" i="0" strike="noStrike" spc="-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Control: Restrict access to internal network with proper </a:t>
                      </a:r>
                      <a:r>
                        <a:rPr 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authentication - </a:t>
                      </a:r>
                      <a:r>
                        <a:rPr lang="en-US" altLang="zh-CN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Open-</a:t>
                      </a:r>
                      <a:r>
                        <a:rPr lang="zh-CN" altLang="en-US" sz="1000" b="0" i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阮功俊英</a:t>
                      </a:r>
                      <a:endParaRPr lang="en-US" altLang="zh-CN" sz="1000" b="0" i="0" strike="noStrike" spc="-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鄧潘英</a:t>
                      </a:r>
                      <a:endParaRPr lang="en-US" altLang="zh-CN" sz="10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strike="noStrike" spc="-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26/03/31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kumimoji="0" lang="en-US" sz="1000" b="0" i="0" u="none" strike="noStrike" kern="1200" cap="none" spc="-1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Open</a:t>
                      </a:r>
                      <a:endParaRPr lang="en-US" sz="1000" b="0" i="0" strike="noStrike" spc="-1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FE85CAD4-1F0B-844D-436C-6832A5200E8F}"/>
              </a:ext>
            </a:extLst>
          </p:cNvPr>
          <p:cNvGrpSpPr/>
          <p:nvPr/>
        </p:nvGrpSpPr>
        <p:grpSpPr>
          <a:xfrm>
            <a:off x="8005312" y="313059"/>
            <a:ext cx="1854680" cy="875294"/>
            <a:chOff x="7709219" y="329739"/>
            <a:chExt cx="1976901" cy="991911"/>
          </a:xfrm>
        </p:grpSpPr>
        <p:pic>
          <p:nvPicPr>
            <p:cNvPr id="17" name="圖片 4">
              <a:extLst>
                <a:ext uri="{FF2B5EF4-FFF2-40B4-BE49-F238E27FC236}">
                  <a16:creationId xmlns:a16="http://schemas.microsoft.com/office/drawing/2014/main" id="{AEFC29D5-E692-8A18-37A3-2702F623C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9219" y="329739"/>
              <a:ext cx="943076" cy="439420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pic>
          <p:nvPicPr>
            <p:cNvPr id="18" name="圖片 5">
              <a:extLst>
                <a:ext uri="{FF2B5EF4-FFF2-40B4-BE49-F238E27FC236}">
                  <a16:creationId xmlns:a16="http://schemas.microsoft.com/office/drawing/2014/main" id="{E43B563A-3F7E-6116-8962-7BD603BC0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3044" y="332835"/>
              <a:ext cx="943076" cy="4394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</p:pic>
        <p:pic>
          <p:nvPicPr>
            <p:cNvPr id="19" name="圖片 3">
              <a:extLst>
                <a:ext uri="{FF2B5EF4-FFF2-40B4-BE49-F238E27FC236}">
                  <a16:creationId xmlns:a16="http://schemas.microsoft.com/office/drawing/2014/main" id="{43205854-6001-9D7D-B4A4-1BBAC138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09219" y="826547"/>
              <a:ext cx="943076" cy="492104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pic>
          <p:nvPicPr>
            <p:cNvPr id="20" name="圖片 4">
              <a:extLst>
                <a:ext uri="{FF2B5EF4-FFF2-40B4-BE49-F238E27FC236}">
                  <a16:creationId xmlns:a16="http://schemas.microsoft.com/office/drawing/2014/main" id="{BD78642D-2D66-F02C-BDCE-7A9BE9DE6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43044" y="829547"/>
              <a:ext cx="943076" cy="492103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2DBC1C9-C510-B6C1-ABB2-A31C2C2BE56C}"/>
              </a:ext>
            </a:extLst>
          </p:cNvPr>
          <p:cNvSpPr txBox="1"/>
          <p:nvPr/>
        </p:nvSpPr>
        <p:spPr>
          <a:xfrm>
            <a:off x="0" y="5716153"/>
            <a:ext cx="8263628" cy="889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0000CC"/>
                </a:solidFill>
              </a:rPr>
              <a:t>NOTE: Phase 1 was completed on server A5000 (IP address: 10.72.65.250). However, this server is currently being (1) revoked by TARG-Pengjun; (2) has low GPU performance and is not sufficient to run LLM. Therefore, the project will need Phase 2 to reinstall the program on the DT (A-Fu) department's server (IP address: 10.72.92.47).</a:t>
            </a:r>
          </a:p>
        </p:txBody>
      </p:sp>
    </p:spTree>
    <p:extLst>
      <p:ext uri="{BB962C8B-B14F-4D97-AF65-F5344CB8AC3E}">
        <p14:creationId xmlns:p14="http://schemas.microsoft.com/office/powerpoint/2010/main" val="333618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4">
            <a:extLst>
              <a:ext uri="{FF2B5EF4-FFF2-40B4-BE49-F238E27FC236}">
                <a16:creationId xmlns:a16="http://schemas.microsoft.com/office/drawing/2014/main" id="{88772240-65EE-88DD-D871-906FCA7D5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80" y="1266855"/>
            <a:ext cx="5096400" cy="2240003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5884ED-AA19-B93E-8B7E-923179DB5E63}"/>
              </a:ext>
            </a:extLst>
          </p:cNvPr>
          <p:cNvSpPr txBox="1"/>
          <p:nvPr/>
        </p:nvSpPr>
        <p:spPr>
          <a:xfrm flipH="1">
            <a:off x="480278" y="934252"/>
            <a:ext cx="5096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Use-case 1: Target Carbon Limits - LLM assistant feature </a:t>
            </a:r>
            <a:endParaRPr lang="en-US" altLang="zh-CN" sz="1200" dirty="0">
              <a:solidFill>
                <a:srgbClr val="0000CC"/>
              </a:solidFill>
              <a:highlight>
                <a:srgbClr val="FF0000"/>
              </a:highlight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24828-231C-BC15-6BF4-AE687D80B876}"/>
              </a:ext>
            </a:extLst>
          </p:cNvPr>
          <p:cNvSpPr txBox="1"/>
          <p:nvPr/>
        </p:nvSpPr>
        <p:spPr>
          <a:xfrm flipH="1">
            <a:off x="-8147" y="0"/>
            <a:ext cx="6887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算法团队报告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-Project 3: Lighthouse 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服务器降本专案（租用改为内部部署）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2E201-47CD-8AC5-511E-E035582DC72C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FC61743E-F1B9-26AC-3295-008493D7EA29}"/>
              </a:ext>
            </a:extLst>
          </p:cNvPr>
          <p:cNvSpPr/>
          <p:nvPr/>
        </p:nvSpPr>
        <p:spPr>
          <a:xfrm>
            <a:off x="10386204" y="0"/>
            <a:ext cx="1805796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OT: CBD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陈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文俊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圖片 5">
            <a:extLst>
              <a:ext uri="{FF2B5EF4-FFF2-40B4-BE49-F238E27FC236}">
                <a16:creationId xmlns:a16="http://schemas.microsoft.com/office/drawing/2014/main" id="{9032DD3D-B73F-58EE-B9AE-E6E31E29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705" y="1266855"/>
            <a:ext cx="4807445" cy="2240003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D0D98-AF90-23C8-F919-7B31D4007146}"/>
              </a:ext>
            </a:extLst>
          </p:cNvPr>
          <p:cNvSpPr txBox="1"/>
          <p:nvPr/>
        </p:nvSpPr>
        <p:spPr>
          <a:xfrm flipH="1">
            <a:off x="6803707" y="934252"/>
            <a:ext cx="4807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Use-case 3: </a:t>
            </a: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Carbon Inventory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 LLM assistant feature</a:t>
            </a:r>
          </a:p>
        </p:txBody>
      </p:sp>
      <p:pic>
        <p:nvPicPr>
          <p:cNvPr id="12" name="圖片 3">
            <a:extLst>
              <a:ext uri="{FF2B5EF4-FFF2-40B4-BE49-F238E27FC236}">
                <a16:creationId xmlns:a16="http://schemas.microsoft.com/office/drawing/2014/main" id="{58074940-E65A-5766-7C0D-7024B0818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83" y="4019831"/>
            <a:ext cx="5063563" cy="256117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294957-4FD2-055F-D2E4-D0F4109238A0}"/>
              </a:ext>
            </a:extLst>
          </p:cNvPr>
          <p:cNvSpPr txBox="1"/>
          <p:nvPr/>
        </p:nvSpPr>
        <p:spPr>
          <a:xfrm flipH="1">
            <a:off x="480277" y="3742832"/>
            <a:ext cx="5063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Use-case 2: Cooling Management Platform</a:t>
            </a:r>
          </a:p>
        </p:txBody>
      </p:sp>
      <p:pic>
        <p:nvPicPr>
          <p:cNvPr id="14" name="圖片 4">
            <a:extLst>
              <a:ext uri="{FF2B5EF4-FFF2-40B4-BE49-F238E27FC236}">
                <a16:creationId xmlns:a16="http://schemas.microsoft.com/office/drawing/2014/main" id="{AF79227C-A6C2-8215-3A97-65F10186F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712" y="4019831"/>
            <a:ext cx="4807444" cy="256117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C09D28-96A8-FC9D-DA81-3A4DE6AA3BA7}"/>
              </a:ext>
            </a:extLst>
          </p:cNvPr>
          <p:cNvSpPr txBox="1"/>
          <p:nvPr/>
        </p:nvSpPr>
        <p:spPr>
          <a:xfrm flipH="1">
            <a:off x="6803708" y="3742831"/>
            <a:ext cx="4807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Use-case 4 &amp; 5: Smart Solar O&amp;M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D9A14-1A12-9091-12BD-F97C69BEBC37}"/>
              </a:ext>
            </a:extLst>
          </p:cNvPr>
          <p:cNvSpPr txBox="1"/>
          <p:nvPr/>
        </p:nvSpPr>
        <p:spPr>
          <a:xfrm>
            <a:off x="472208" y="478538"/>
            <a:ext cx="81669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00CC"/>
                </a:solidFill>
              </a:rPr>
              <a:t>Result: 5 Website </a:t>
            </a:r>
            <a:r>
              <a:rPr lang="vi-VN" sz="2000" b="1">
                <a:solidFill>
                  <a:srgbClr val="0000CC"/>
                </a:solidFill>
              </a:rPr>
              <a:t>Use </a:t>
            </a:r>
            <a:r>
              <a:rPr lang="vi-VN" sz="2000" b="1" dirty="0">
                <a:solidFill>
                  <a:srgbClr val="0000CC"/>
                </a:solidFill>
              </a:rPr>
              <a:t>Case of </a:t>
            </a:r>
            <a:r>
              <a:rPr lang="vi-VN" sz="2000" b="1">
                <a:solidFill>
                  <a:srgbClr val="0000CC"/>
                </a:solidFill>
              </a:rPr>
              <a:t>Lighthouse Application</a:t>
            </a:r>
            <a:r>
              <a:rPr lang="en-US" sz="2000" b="1">
                <a:solidFill>
                  <a:srgbClr val="0000CC"/>
                </a:solidFill>
              </a:rPr>
              <a:t> was online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4217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EE474F-07BE-E4E7-0FEB-B4206A259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832427"/>
              </p:ext>
            </p:extLst>
          </p:nvPr>
        </p:nvGraphicFramePr>
        <p:xfrm>
          <a:off x="509089" y="1322784"/>
          <a:ext cx="6047677" cy="88392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3496027335"/>
                    </a:ext>
                  </a:extLst>
                </a:gridCol>
                <a:gridCol w="1829689">
                  <a:extLst>
                    <a:ext uri="{9D8B030D-6E8A-4147-A177-3AD203B41FA5}">
                      <a16:colId xmlns:a16="http://schemas.microsoft.com/office/drawing/2014/main" val="323917547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171816308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552710609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226788752"/>
                    </a:ext>
                  </a:extLst>
                </a:gridCol>
              </a:tblGrid>
              <a:tr h="200025"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CPEG-AI Install on Local Server at </a:t>
                      </a:r>
                      <a:r>
                        <a:rPr lang="en-US" sz="120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Fulian</a:t>
                      </a: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Factory-Bac Ninh-Vietnam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3780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Item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Unit Price (USD)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Calculation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Annual Cost (USD)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733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DT Server Purchase Cost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$29,000/Server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$29,000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291302"/>
                  </a:ext>
                </a:extLst>
              </a:tr>
              <a:tr h="200025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 Cost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$29,000</a:t>
                      </a:r>
                      <a:endParaRPr 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19548"/>
                  </a:ext>
                </a:extLst>
              </a:tr>
            </a:tbl>
          </a:graphicData>
        </a:graphic>
      </p:graphicFrame>
      <p:sp>
        <p:nvSpPr>
          <p:cNvPr id="7" name="TextBox 1">
            <a:extLst>
              <a:ext uri="{FF2B5EF4-FFF2-40B4-BE49-F238E27FC236}">
                <a16:creationId xmlns:a16="http://schemas.microsoft.com/office/drawing/2014/main" id="{92515AD4-BD41-775F-0DE4-47F16E512570}"/>
              </a:ext>
            </a:extLst>
          </p:cNvPr>
          <p:cNvSpPr/>
          <p:nvPr/>
        </p:nvSpPr>
        <p:spPr>
          <a:xfrm>
            <a:off x="9525000" y="0"/>
            <a:ext cx="26670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OT: CBD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陈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文俊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72BF94-7271-6828-DCC0-75BDAA224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336620"/>
              </p:ext>
            </p:extLst>
          </p:nvPr>
        </p:nvGraphicFramePr>
        <p:xfrm>
          <a:off x="509090" y="2676213"/>
          <a:ext cx="5816918" cy="1000124"/>
        </p:xfrm>
        <a:graphic>
          <a:graphicData uri="http://schemas.openxmlformats.org/drawingml/2006/table">
            <a:tbl>
              <a:tblPr/>
              <a:tblGrid>
                <a:gridCol w="331664">
                  <a:extLst>
                    <a:ext uri="{9D8B030D-6E8A-4147-A177-3AD203B41FA5}">
                      <a16:colId xmlns:a16="http://schemas.microsoft.com/office/drawing/2014/main" val="1806174440"/>
                    </a:ext>
                  </a:extLst>
                </a:gridCol>
                <a:gridCol w="1553863">
                  <a:extLst>
                    <a:ext uri="{9D8B030D-6E8A-4147-A177-3AD203B41FA5}">
                      <a16:colId xmlns:a16="http://schemas.microsoft.com/office/drawing/2014/main" val="3156354767"/>
                    </a:ext>
                  </a:extLst>
                </a:gridCol>
                <a:gridCol w="1492488">
                  <a:extLst>
                    <a:ext uri="{9D8B030D-6E8A-4147-A177-3AD203B41FA5}">
                      <a16:colId xmlns:a16="http://schemas.microsoft.com/office/drawing/2014/main" val="1926602056"/>
                    </a:ext>
                  </a:extLst>
                </a:gridCol>
                <a:gridCol w="946415">
                  <a:extLst>
                    <a:ext uri="{9D8B030D-6E8A-4147-A177-3AD203B41FA5}">
                      <a16:colId xmlns:a16="http://schemas.microsoft.com/office/drawing/2014/main" val="3659110931"/>
                    </a:ext>
                  </a:extLst>
                </a:gridCol>
                <a:gridCol w="1492488">
                  <a:extLst>
                    <a:ext uri="{9D8B030D-6E8A-4147-A177-3AD203B41FA5}">
                      <a16:colId xmlns:a16="http://schemas.microsoft.com/office/drawing/2014/main" val="2428368326"/>
                    </a:ext>
                  </a:extLst>
                </a:gridCol>
              </a:tblGrid>
              <a:tr h="250031"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TARG Install on Cloud Server at Longhua Factory-Shenzhen-China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143581"/>
                  </a:ext>
                </a:extLst>
              </a:tr>
              <a:tr h="25003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Item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Unit price (USD)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Calculation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Annual Cost (USD)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92194"/>
                  </a:ext>
                </a:extLst>
              </a:tr>
              <a:tr h="25003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Server Rental Costs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$12,353 / 6 Month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$12,353 *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$24,800/Year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387812"/>
                  </a:ext>
                </a:extLst>
              </a:tr>
              <a:tr h="25003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Longhua-TARG Total Cost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$24,800/Year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150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A2B15E-B82B-653E-4F98-E9A91ADF2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24374"/>
              </p:ext>
            </p:extLst>
          </p:nvPr>
        </p:nvGraphicFramePr>
        <p:xfrm>
          <a:off x="7396498" y="2129477"/>
          <a:ext cx="4325435" cy="883920"/>
        </p:xfrm>
        <a:graphic>
          <a:graphicData uri="http://schemas.openxmlformats.org/drawingml/2006/table">
            <a:tbl>
              <a:tblPr/>
              <a:tblGrid>
                <a:gridCol w="867865">
                  <a:extLst>
                    <a:ext uri="{9D8B030D-6E8A-4147-A177-3AD203B41FA5}">
                      <a16:colId xmlns:a16="http://schemas.microsoft.com/office/drawing/2014/main" val="3429280553"/>
                    </a:ext>
                  </a:extLst>
                </a:gridCol>
                <a:gridCol w="1416496">
                  <a:extLst>
                    <a:ext uri="{9D8B030D-6E8A-4147-A177-3AD203B41FA5}">
                      <a16:colId xmlns:a16="http://schemas.microsoft.com/office/drawing/2014/main" val="2051985485"/>
                    </a:ext>
                  </a:extLst>
                </a:gridCol>
                <a:gridCol w="2041074">
                  <a:extLst>
                    <a:ext uri="{9D8B030D-6E8A-4147-A177-3AD203B41FA5}">
                      <a16:colId xmlns:a16="http://schemas.microsoft.com/office/drawing/2014/main" val="3596138753"/>
                    </a:ext>
                  </a:extLst>
                </a:gridCol>
              </a:tblGrid>
              <a:tr h="22098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Calculate Profit Over Time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116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Timeline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CPEG-AI (USD)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TARG-</a:t>
                      </a:r>
                      <a:r>
                        <a:rPr lang="en-US" sz="120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LongHua</a:t>
                      </a: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(USD)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3261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 Year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$29,000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$125,000</a:t>
                      </a: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145416"/>
                  </a:ext>
                </a:extLst>
              </a:tr>
              <a:tr h="22098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Profit = $125,000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- $</a:t>
                      </a: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29,000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=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$96,000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74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294AC5-395E-F505-9A9C-6B0278BC0725}"/>
              </a:ext>
            </a:extLst>
          </p:cNvPr>
          <p:cNvSpPr txBox="1"/>
          <p:nvPr/>
        </p:nvSpPr>
        <p:spPr>
          <a:xfrm>
            <a:off x="509089" y="3945791"/>
            <a:ext cx="1017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">
              <a:defRPr/>
            </a:pPr>
            <a:r>
              <a:rPr 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Conclusion Benefit: 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For this project</a:t>
            </a:r>
            <a:r>
              <a:rPr 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AI Department helped </a:t>
            </a:r>
            <a:r>
              <a:rPr lang="en-US" sz="2000" b="1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save a total </a:t>
            </a:r>
            <a:r>
              <a:rPr lang="en-US" sz="2000" b="1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of $96,000</a:t>
            </a:r>
            <a:endParaRPr lang="en-US" sz="1800" b="1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5FF0143-A732-38E6-779C-4943C57EA625}"/>
              </a:ext>
            </a:extLst>
          </p:cNvPr>
          <p:cNvSpPr/>
          <p:nvPr/>
        </p:nvSpPr>
        <p:spPr>
          <a:xfrm>
            <a:off x="6642702" y="1705224"/>
            <a:ext cx="437102" cy="1732426"/>
          </a:xfrm>
          <a:prstGeom prst="rightBrace">
            <a:avLst>
              <a:gd name="adj1" fmla="val 8333"/>
              <a:gd name="adj2" fmla="val 50996"/>
            </a:avLst>
          </a:prstGeom>
          <a:ln w="381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FF853-A634-2739-7CCA-D8601893800C}"/>
              </a:ext>
            </a:extLst>
          </p:cNvPr>
          <p:cNvSpPr txBox="1"/>
          <p:nvPr/>
        </p:nvSpPr>
        <p:spPr>
          <a:xfrm>
            <a:off x="509089" y="512132"/>
            <a:ext cx="3273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PROFIT &amp; BENEFIT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45989-9C36-2F99-F276-DD9DF199423D}"/>
              </a:ext>
            </a:extLst>
          </p:cNvPr>
          <p:cNvSpPr txBox="1"/>
          <p:nvPr/>
        </p:nvSpPr>
        <p:spPr>
          <a:xfrm flipH="1">
            <a:off x="-8147" y="0"/>
            <a:ext cx="6887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算法团队报告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-Project 3: Lighthouse 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服务器降本专案（租用改为内部部署）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BA868-A591-63B8-CD5B-10596A59DE57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7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9265-87C4-605E-FE5F-B97814C7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78400DA3-1E42-830C-4544-745D27ACC341}"/>
              </a:ext>
            </a:extLst>
          </p:cNvPr>
          <p:cNvSpPr/>
          <p:nvPr/>
        </p:nvSpPr>
        <p:spPr>
          <a:xfrm>
            <a:off x="9525000" y="0"/>
            <a:ext cx="26670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OT: CBD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陈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文俊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9F529-DEB3-29ED-38E2-BFDFC9105F4C}"/>
              </a:ext>
            </a:extLst>
          </p:cNvPr>
          <p:cNvSpPr txBox="1"/>
          <p:nvPr/>
        </p:nvSpPr>
        <p:spPr>
          <a:xfrm>
            <a:off x="509089" y="512132"/>
            <a:ext cx="6435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QUOTATION by CPEG-AI Deparment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AEDCC-7E1D-2807-447B-98C45655DD8D}"/>
              </a:ext>
            </a:extLst>
          </p:cNvPr>
          <p:cNvSpPr txBox="1"/>
          <p:nvPr/>
        </p:nvSpPr>
        <p:spPr>
          <a:xfrm flipH="1">
            <a:off x="-8147" y="0"/>
            <a:ext cx="6887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算法团队报告</a:t>
            </a:r>
            <a:r>
              <a:rPr lang="en-US" altLang="zh-CN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-Project 3: Lighthouse </a:t>
            </a:r>
            <a:r>
              <a:rPr lang="zh-CN" altLang="en-US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服务器降本专案（租用改为内部部署）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A5BBF-AC20-FE0C-CF50-9BBD55F0229D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C230F0-15AA-46C4-9F00-68F7FC3F4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00359"/>
              </p:ext>
            </p:extLst>
          </p:nvPr>
        </p:nvGraphicFramePr>
        <p:xfrm>
          <a:off x="766762" y="1082883"/>
          <a:ext cx="11016921" cy="2721366"/>
        </p:xfrm>
        <a:graphic>
          <a:graphicData uri="http://schemas.openxmlformats.org/drawingml/2006/table">
            <a:tbl>
              <a:tblPr/>
              <a:tblGrid>
                <a:gridCol w="302913">
                  <a:extLst>
                    <a:ext uri="{9D8B030D-6E8A-4147-A177-3AD203B41FA5}">
                      <a16:colId xmlns:a16="http://schemas.microsoft.com/office/drawing/2014/main" val="1938778837"/>
                    </a:ext>
                  </a:extLst>
                </a:gridCol>
                <a:gridCol w="1796119">
                  <a:extLst>
                    <a:ext uri="{9D8B030D-6E8A-4147-A177-3AD203B41FA5}">
                      <a16:colId xmlns:a16="http://schemas.microsoft.com/office/drawing/2014/main" val="3429280553"/>
                    </a:ext>
                  </a:extLst>
                </a:gridCol>
                <a:gridCol w="2049215">
                  <a:extLst>
                    <a:ext uri="{9D8B030D-6E8A-4147-A177-3AD203B41FA5}">
                      <a16:colId xmlns:a16="http://schemas.microsoft.com/office/drawing/2014/main" val="2051985485"/>
                    </a:ext>
                  </a:extLst>
                </a:gridCol>
                <a:gridCol w="6868674">
                  <a:extLst>
                    <a:ext uri="{9D8B030D-6E8A-4147-A177-3AD203B41FA5}">
                      <a16:colId xmlns:a16="http://schemas.microsoft.com/office/drawing/2014/main" val="806888234"/>
                    </a:ext>
                  </a:extLst>
                </a:gridCol>
              </a:tblGrid>
              <a:tr h="28915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Category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7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Items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7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b="1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Detail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41057"/>
                  </a:ext>
                </a:extLst>
              </a:tr>
              <a:tr h="28915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Number of Engineers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 people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陈文俊，鄧潘英，潘洛興，阮功俊英，阮氏云英</a:t>
                      </a:r>
                      <a:endParaRPr lang="en-US" sz="12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532614"/>
                  </a:ext>
                </a:extLst>
              </a:tr>
              <a:tr h="345798">
                <a:tc>
                  <a:txBody>
                    <a:bodyPr/>
                    <a:lstStyle/>
                    <a:p>
                      <a:pPr lvl="0"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Labor Cost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$4000 USD/people/quarter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ctr">
                        <a:lnSpc>
                          <a:spcPct val="150000"/>
                        </a:lnSpc>
                        <a:buNone/>
                      </a:pPr>
                      <a:r>
                        <a:rPr lang="fr-FR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IE stipulates 4000/person/quarter</a:t>
                      </a:r>
                      <a:endParaRPr lang="en-US" sz="12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408512"/>
                  </a:ext>
                </a:extLst>
              </a:tr>
              <a:tr h="89863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Project Duration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 months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Phase 1 was completed in 2 months. However, the server was recalled by TARG-Pengjun. </a:t>
                      </a:r>
                    </a:p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Phase 2 (migrating to DT's server) took another 2 months. The total project time was 4 months.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145416"/>
                  </a:ext>
                </a:extLst>
              </a:tr>
              <a:tr h="89863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 cost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27,000 USD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Equivalent Quarters = 4 months / 3 months = 4/3</a:t>
                      </a:r>
                    </a:p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=&gt; 1 person cost/4 months = 4,000 × 4/3 = 5,333.33 USD</a:t>
                      </a:r>
                    </a:p>
                    <a:p>
                      <a:pPr lvl="0"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=&gt; Total Labor Cost (5 people, 4 months) = 5 × 5,333.33 = 26,666.67 USD (≈ 26,667 USD)</a:t>
                      </a:r>
                    </a:p>
                  </a:txBody>
                  <a:tcPr marL="27721" marR="27721" marT="18481" marB="18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855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72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266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陈文俊 Foxconn 报告模板">
      <a:majorFont>
        <a:latin typeface="Microsoft JhengHei"/>
        <a:ea typeface="Microsoft JhengHei"/>
        <a:cs typeface=""/>
      </a:majorFont>
      <a:minorFont>
        <a:latin typeface="Microsoft JhengHei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120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</TotalTime>
  <Words>1725</Words>
  <Application>Microsoft Office PowerPoint</Application>
  <PresentationFormat>Widescreen</PresentationFormat>
  <Paragraphs>279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Microsoft JhengHei</vt:lpstr>
      <vt:lpstr>Arial</vt:lpstr>
      <vt:lpstr>Calibri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TUAN TRAN</dc:creator>
  <cp:lastModifiedBy>VAN TUAN TRAN</cp:lastModifiedBy>
  <cp:revision>420</cp:revision>
  <dcterms:created xsi:type="dcterms:W3CDTF">2026-02-07T01:58:58Z</dcterms:created>
  <dcterms:modified xsi:type="dcterms:W3CDTF">2026-03-03T06:23:08Z</dcterms:modified>
</cp:coreProperties>
</file>